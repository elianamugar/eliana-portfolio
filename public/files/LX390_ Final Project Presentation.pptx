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erriweather Light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pen Sans SemiBold"/>
      <p:regular r:id="rId23"/>
      <p:bold r:id="rId24"/>
      <p:italic r:id="rId25"/>
      <p:boldItalic r:id="rId26"/>
    </p:embeddedFont>
    <p:embeddedFont>
      <p:font typeface="Vidaloka"/>
      <p:regular r:id="rId27"/>
    </p:embeddedFont>
    <p:embeddedFont>
      <p:font typeface="Russo One"/>
      <p:regular r:id="rId28"/>
    </p:embeddedFont>
    <p:embeddedFont>
      <p:font typeface="Crimson Text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OpenSansSemiBold-bold.fntdata"/><Relationship Id="rId23" Type="http://schemas.openxmlformats.org/officeDocument/2006/relationships/font" Target="fonts/Open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SemiBold-boldItalic.fntdata"/><Relationship Id="rId25" Type="http://schemas.openxmlformats.org/officeDocument/2006/relationships/font" Target="fonts/OpenSansSemiBold-italic.fntdata"/><Relationship Id="rId28" Type="http://schemas.openxmlformats.org/officeDocument/2006/relationships/font" Target="fonts/RussoOne-regular.fntdata"/><Relationship Id="rId27" Type="http://schemas.openxmlformats.org/officeDocument/2006/relationships/font" Target="fonts/Vidalok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rimsonTex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rimsonText-italic.fntdata"/><Relationship Id="rId30" Type="http://schemas.openxmlformats.org/officeDocument/2006/relationships/font" Target="fonts/CrimsonText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CrimsonText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font" Target="fonts/MerriweatherLight-regular.fnt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font" Target="fonts/MerriweatherLight-italic.fntdata"/><Relationship Id="rId16" Type="http://schemas.openxmlformats.org/officeDocument/2006/relationships/font" Target="fonts/MerriweatherLight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erriweath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3c416d445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3c416d445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3c7cf7b845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3c7cf7b845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3c7cf7b845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3c7cf7b845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c416d44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3c416d44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3c416d44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3c416d44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3c416d445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3c416d44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3c416d44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3c416d44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3c416d445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3c416d445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714550" y="2543963"/>
            <a:ext cx="37149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4789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279625"/>
            <a:ext cx="4561200" cy="39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6490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6490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360375" y="1433050"/>
            <a:ext cx="1725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4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225400"/>
            <a:ext cx="6899100" cy="26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539500"/>
            <a:ext cx="3557100" cy="97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497763"/>
            <a:ext cx="7717500" cy="16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27878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2410500" y="2932775"/>
            <a:ext cx="4323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2" name="Google Shape;92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1994850" y="1697488"/>
            <a:ext cx="5154300" cy="11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1" name="Google Shape;10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17"/>
          <p:cNvSpPr txBox="1"/>
          <p:nvPr>
            <p:ph hasCustomPrompt="1" idx="2" type="title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8" name="Google Shape;10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1043725" y="1185550"/>
            <a:ext cx="3123000" cy="20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14" name="Google Shape;114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" type="subTitle"/>
          </p:nvPr>
        </p:nvSpPr>
        <p:spPr>
          <a:xfrm>
            <a:off x="3509000" y="2636125"/>
            <a:ext cx="212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2" type="subTitle"/>
          </p:nvPr>
        </p:nvSpPr>
        <p:spPr>
          <a:xfrm>
            <a:off x="3509025" y="2976125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3" type="subTitle"/>
          </p:nvPr>
        </p:nvSpPr>
        <p:spPr>
          <a:xfrm>
            <a:off x="953025" y="2636125"/>
            <a:ext cx="212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4" type="subTitle"/>
          </p:nvPr>
        </p:nvSpPr>
        <p:spPr>
          <a:xfrm>
            <a:off x="953125" y="2976125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5" type="subTitle"/>
          </p:nvPr>
        </p:nvSpPr>
        <p:spPr>
          <a:xfrm>
            <a:off x="6064875" y="2636125"/>
            <a:ext cx="212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6" type="subTitle"/>
          </p:nvPr>
        </p:nvSpPr>
        <p:spPr>
          <a:xfrm>
            <a:off x="6064875" y="2976125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125" name="Google Shape;125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2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3718325" y="3391775"/>
            <a:ext cx="1642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29" name="Google Shape;129;p20"/>
          <p:cNvSpPr txBox="1"/>
          <p:nvPr>
            <p:ph idx="2" type="subTitle"/>
          </p:nvPr>
        </p:nvSpPr>
        <p:spPr>
          <a:xfrm>
            <a:off x="3617675" y="3731775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3" type="subTitle"/>
          </p:nvPr>
        </p:nvSpPr>
        <p:spPr>
          <a:xfrm>
            <a:off x="1328025" y="3391775"/>
            <a:ext cx="1642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4" type="subTitle"/>
          </p:nvPr>
        </p:nvSpPr>
        <p:spPr>
          <a:xfrm>
            <a:off x="1227426" y="3731775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5" type="subTitle"/>
          </p:nvPr>
        </p:nvSpPr>
        <p:spPr>
          <a:xfrm>
            <a:off x="6108550" y="3391775"/>
            <a:ext cx="1643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33" name="Google Shape;133;p20"/>
          <p:cNvSpPr txBox="1"/>
          <p:nvPr>
            <p:ph idx="6" type="subTitle"/>
          </p:nvPr>
        </p:nvSpPr>
        <p:spPr>
          <a:xfrm>
            <a:off x="6008050" y="3731775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34" name="Google Shape;134;p20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135" name="Google Shape;135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3414050" y="1811988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3564200" y="2152000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3" type="subTitle"/>
          </p:nvPr>
        </p:nvSpPr>
        <p:spPr>
          <a:xfrm>
            <a:off x="705725" y="1811988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4" type="subTitle"/>
          </p:nvPr>
        </p:nvSpPr>
        <p:spPr>
          <a:xfrm>
            <a:off x="855875" y="2152000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5" type="subTitle"/>
          </p:nvPr>
        </p:nvSpPr>
        <p:spPr>
          <a:xfrm>
            <a:off x="6122325" y="1811988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6" type="subTitle"/>
          </p:nvPr>
        </p:nvSpPr>
        <p:spPr>
          <a:xfrm>
            <a:off x="6272475" y="2152000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7" type="subTitle"/>
          </p:nvPr>
        </p:nvSpPr>
        <p:spPr>
          <a:xfrm>
            <a:off x="3414050" y="3543463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8" type="subTitle"/>
          </p:nvPr>
        </p:nvSpPr>
        <p:spPr>
          <a:xfrm>
            <a:off x="3564200" y="3883475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9" type="subTitle"/>
          </p:nvPr>
        </p:nvSpPr>
        <p:spPr>
          <a:xfrm>
            <a:off x="705725" y="3543463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13" type="subTitle"/>
          </p:nvPr>
        </p:nvSpPr>
        <p:spPr>
          <a:xfrm>
            <a:off x="855875" y="3883475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14" type="subTitle"/>
          </p:nvPr>
        </p:nvSpPr>
        <p:spPr>
          <a:xfrm>
            <a:off x="6122325" y="3543463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15" type="subTitle"/>
          </p:nvPr>
        </p:nvSpPr>
        <p:spPr>
          <a:xfrm>
            <a:off x="6272475" y="3883475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151" name="Google Shape;151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4916850" y="1970400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2" type="subTitle"/>
          </p:nvPr>
        </p:nvSpPr>
        <p:spPr>
          <a:xfrm>
            <a:off x="5058900" y="231041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3" type="subTitle"/>
          </p:nvPr>
        </p:nvSpPr>
        <p:spPr>
          <a:xfrm>
            <a:off x="1911150" y="1970400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57" name="Google Shape;157;p22"/>
          <p:cNvSpPr txBox="1"/>
          <p:nvPr>
            <p:ph idx="4" type="subTitle"/>
          </p:nvPr>
        </p:nvSpPr>
        <p:spPr>
          <a:xfrm>
            <a:off x="2053300" y="231041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5" type="subTitle"/>
          </p:nvPr>
        </p:nvSpPr>
        <p:spPr>
          <a:xfrm>
            <a:off x="4916850" y="3625538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6" type="subTitle"/>
          </p:nvPr>
        </p:nvSpPr>
        <p:spPr>
          <a:xfrm>
            <a:off x="5058900" y="3965550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7" type="subTitle"/>
          </p:nvPr>
        </p:nvSpPr>
        <p:spPr>
          <a:xfrm>
            <a:off x="1911150" y="3625538"/>
            <a:ext cx="23160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8" type="subTitle"/>
          </p:nvPr>
        </p:nvSpPr>
        <p:spPr>
          <a:xfrm>
            <a:off x="2053200" y="3965550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163" name="Google Shape;163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idx="1" type="subTitle"/>
          </p:nvPr>
        </p:nvSpPr>
        <p:spPr>
          <a:xfrm>
            <a:off x="3568125" y="2994600"/>
            <a:ext cx="20154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2" type="subTitle"/>
          </p:nvPr>
        </p:nvSpPr>
        <p:spPr>
          <a:xfrm>
            <a:off x="3568125" y="3334600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3" type="subTitle"/>
          </p:nvPr>
        </p:nvSpPr>
        <p:spPr>
          <a:xfrm>
            <a:off x="1088350" y="2994600"/>
            <a:ext cx="20154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4" type="subTitle"/>
          </p:nvPr>
        </p:nvSpPr>
        <p:spPr>
          <a:xfrm>
            <a:off x="1088450" y="3334600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5" type="subTitle"/>
          </p:nvPr>
        </p:nvSpPr>
        <p:spPr>
          <a:xfrm>
            <a:off x="6055450" y="2994600"/>
            <a:ext cx="20154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71" name="Google Shape;171;p23"/>
          <p:cNvSpPr txBox="1"/>
          <p:nvPr>
            <p:ph idx="6" type="subTitle"/>
          </p:nvPr>
        </p:nvSpPr>
        <p:spPr>
          <a:xfrm>
            <a:off x="6055450" y="3334600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45025"/>
            <a:ext cx="476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173" name="Google Shape;173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3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5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idx="1" type="subTitle"/>
          </p:nvPr>
        </p:nvSpPr>
        <p:spPr>
          <a:xfrm>
            <a:off x="4750187" y="1722900"/>
            <a:ext cx="201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2" type="subTitle"/>
          </p:nvPr>
        </p:nvSpPr>
        <p:spPr>
          <a:xfrm>
            <a:off x="4750184" y="206290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3" type="subTitle"/>
          </p:nvPr>
        </p:nvSpPr>
        <p:spPr>
          <a:xfrm>
            <a:off x="2306462" y="1722900"/>
            <a:ext cx="201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idx="4" type="subTitle"/>
          </p:nvPr>
        </p:nvSpPr>
        <p:spPr>
          <a:xfrm>
            <a:off x="2306462" y="206290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5" type="subTitle"/>
          </p:nvPr>
        </p:nvSpPr>
        <p:spPr>
          <a:xfrm>
            <a:off x="4750187" y="3158925"/>
            <a:ext cx="201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6" type="subTitle"/>
          </p:nvPr>
        </p:nvSpPr>
        <p:spPr>
          <a:xfrm>
            <a:off x="4750184" y="3498925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7" type="subTitle"/>
          </p:nvPr>
        </p:nvSpPr>
        <p:spPr>
          <a:xfrm>
            <a:off x="2306462" y="3158925"/>
            <a:ext cx="20148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8" type="subTitle"/>
          </p:nvPr>
        </p:nvSpPr>
        <p:spPr>
          <a:xfrm>
            <a:off x="2306462" y="3498925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186" name="Google Shape;186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5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5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25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5" name="Google Shape;195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7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803750" y="2025800"/>
            <a:ext cx="40875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7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204" name="Google Shape;204;p27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205" name="Google Shape;205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_8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10" name="Google Shape;210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8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9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19" name="Google Shape;219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,and infographics &amp; images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spencer-gable-cook/COVID-19_Misinformation_Detector" TargetMode="External"/><Relationship Id="rId4" Type="http://schemas.openxmlformats.org/officeDocument/2006/relationships/hyperlink" Target="https://huggingface.co/roupenminassian/TwHIN-BERT-Misinformation-Classifier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uggingface.co/datasets/arbml/COVID_19_Disinformation_ar" TargetMode="External"/><Relationship Id="rId4" Type="http://schemas.openxmlformats.org/officeDocument/2006/relationships/hyperlink" Target="https://huggingface.co/datasets/nanyy1025/covid_fake_news" TargetMode="External"/><Relationship Id="rId5" Type="http://schemas.openxmlformats.org/officeDocument/2006/relationships/hyperlink" Target="https://huggingface.co/datasets/justinqbui/covid_fact_checked_polifact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ciencedirect.com/science/article/pii/S0033350621004534" TargetMode="External"/><Relationship Id="rId4" Type="http://schemas.openxmlformats.org/officeDocument/2006/relationships/hyperlink" Target="https://arxiv.org/abs/2006.00885" TargetMode="External"/><Relationship Id="rId9" Type="http://schemas.openxmlformats.org/officeDocument/2006/relationships/hyperlink" Target="https://huggingface.co/spencer-gable-cook/COVID-19_Misinformation_Detector" TargetMode="External"/><Relationship Id="rId5" Type="http://schemas.openxmlformats.org/officeDocument/2006/relationships/hyperlink" Target="https://www.kaggle.com/datasets/gpreda/covid19-tweets" TargetMode="External"/><Relationship Id="rId6" Type="http://schemas.openxmlformats.org/officeDocument/2006/relationships/hyperlink" Target="https://huggingface.co/datasets/arbml/COVID_19_Disinformation_ar" TargetMode="External"/><Relationship Id="rId7" Type="http://schemas.openxmlformats.org/officeDocument/2006/relationships/hyperlink" Target="https://huggingface.co/datasets/justinqbui/covid_fact_checked_polifact" TargetMode="External"/><Relationship Id="rId8" Type="http://schemas.openxmlformats.org/officeDocument/2006/relationships/hyperlink" Target="https://huggingface.co/datasets/nanyy1025/covid_fake_news" TargetMode="External"/><Relationship Id="rId10" Type="http://schemas.openxmlformats.org/officeDocument/2006/relationships/hyperlink" Target="https://huggingface.co/ChrisEsworthy/Covid_Misinformation_Mod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Comparing Models on COVID-19 Tweets</a:t>
            </a:r>
            <a:endParaRPr sz="5000"/>
          </a:p>
        </p:txBody>
      </p:sp>
      <p:sp>
        <p:nvSpPr>
          <p:cNvPr id="246" name="Google Shape;246;p34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Eliana Mugar &amp; Sam Rigor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Najoung’s Feedback</a:t>
            </a:r>
            <a:endParaRPr/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Sounds interesting! A few concerns that would need to be addressed in the final report: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exactly is your novel contribution here? e.g., what would you find that you wouldn't find with running an experiment with a random subset of the COV19Tweets dataset? I'm assuming the diversity in opinion, source/user, and timeframe would be what differentiates it, but I am not sure how this ties into the overarching goal that you describe in the final paragraph.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exactly would you go about filtering the dataset to 500-1000 tweets, meeting the constraints that you described? The process and design decisions should be well documented in the final report.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 recent years, younger people have been using social media as a news source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Though social media can make information accessible to a wide audience, 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</p:txBody>
      </p:sp>
      <p:sp>
        <p:nvSpPr>
          <p:cNvPr id="264" name="Google Shape;264;p37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 recent years, researchers have already developed datasets to train ML models to detect misinformation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“ANTi-Vax: a novel Twitter dataset for COVID-19 vaccine misinformation detection”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“CoAID: COVID-19 Healthcare Misinformation Dataset”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Description &amp; Metrics</a:t>
            </a:r>
            <a:endParaRPr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Are models able to correctly identify whether or not social media posts contain misinformation regarding COVID-19?</a:t>
            </a:r>
            <a:endParaRPr b="1" sz="18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Models used (both from HuggingFace):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spencer-gable-cook/COVID-19_Misinformation_Detector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roupenminassian/TwHIN-BERT-Misinformation-Classifier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Both of these models use binary classification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0</a:t>
            </a:r>
            <a:r>
              <a:rPr lang="en" sz="1500"/>
              <a:t> = NOT misinformation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1</a:t>
            </a:r>
            <a:r>
              <a:rPr lang="en" sz="1500"/>
              <a:t> = misinformation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That being said, we can use accuracy, precision, recall, and F1 to evaluate model performance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</a:t>
            </a:r>
            <a:endParaRPr/>
          </a:p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713250" y="1272925"/>
            <a:ext cx="7717500" cy="137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Tweets mentioning COVID-19 in some way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Example terms: “nCov,” “Pfizer,” “vaccine,” “corona”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Existing datasets are too large → randomly select N=1,000 tweets from the data</a:t>
            </a:r>
            <a:endParaRPr sz="1800"/>
          </a:p>
        </p:txBody>
      </p:sp>
      <p:pic>
        <p:nvPicPr>
          <p:cNvPr id="277" name="Google Shape;2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950" y="2857676"/>
            <a:ext cx="4394375" cy="191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75" y="2860414"/>
            <a:ext cx="4394374" cy="190963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9"/>
          <p:cNvSpPr txBox="1"/>
          <p:nvPr/>
        </p:nvSpPr>
        <p:spPr>
          <a:xfrm>
            <a:off x="1928825" y="4091075"/>
            <a:ext cx="24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B6D7A8"/>
                </a:highlight>
                <a:latin typeface="Montserrat"/>
                <a:ea typeface="Montserrat"/>
                <a:cs typeface="Montserrat"/>
                <a:sym typeface="Montserrat"/>
              </a:rPr>
              <a:t>0 = NOT  misinformation</a:t>
            </a:r>
            <a:endParaRPr>
              <a:highlight>
                <a:srgbClr val="B6D7A8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6711300" y="4091075"/>
            <a:ext cx="243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A9999"/>
                </a:highlight>
                <a:latin typeface="Montserrat"/>
                <a:ea typeface="Montserrat"/>
                <a:cs typeface="Montserrat"/>
                <a:sym typeface="Montserrat"/>
              </a:rPr>
              <a:t>1 = </a:t>
            </a:r>
            <a:r>
              <a:rPr lang="en">
                <a:highlight>
                  <a:srgbClr val="EA9999"/>
                </a:highlight>
                <a:latin typeface="Montserrat"/>
                <a:ea typeface="Montserrat"/>
                <a:cs typeface="Montserrat"/>
                <a:sym typeface="Montserrat"/>
              </a:rPr>
              <a:t>misinformation</a:t>
            </a:r>
            <a:endParaRPr>
              <a:highlight>
                <a:srgbClr val="EA9999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286" name="Google Shape;286;p40"/>
          <p:cNvSpPr txBox="1"/>
          <p:nvPr>
            <p:ph idx="4294967295" type="subTitle"/>
          </p:nvPr>
        </p:nvSpPr>
        <p:spPr>
          <a:xfrm>
            <a:off x="3555100" y="1566475"/>
            <a:ext cx="20106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arbml/COVID_19_Disinformation_ar</a:t>
            </a:r>
            <a:endParaRPr/>
          </a:p>
        </p:txBody>
      </p:sp>
      <p:sp>
        <p:nvSpPr>
          <p:cNvPr id="287" name="Google Shape;287;p40"/>
          <p:cNvSpPr txBox="1"/>
          <p:nvPr>
            <p:ph idx="4294967295" type="subTitle"/>
          </p:nvPr>
        </p:nvSpPr>
        <p:spPr>
          <a:xfrm>
            <a:off x="312775" y="1566475"/>
            <a:ext cx="2715600" cy="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nanyy1025/covid_fake_news</a:t>
            </a:r>
            <a:endParaRPr/>
          </a:p>
        </p:txBody>
      </p:sp>
      <p:sp>
        <p:nvSpPr>
          <p:cNvPr id="288" name="Google Shape;288;p40"/>
          <p:cNvSpPr txBox="1"/>
          <p:nvPr>
            <p:ph idx="4294967295" type="subTitle"/>
          </p:nvPr>
        </p:nvSpPr>
        <p:spPr>
          <a:xfrm>
            <a:off x="6203400" y="1566475"/>
            <a:ext cx="2473200" cy="11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justinqbui/covid_fact_checked_polifact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89" name="Google Shape;28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3800" y="2694475"/>
            <a:ext cx="2473200" cy="1657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3400" y="2694475"/>
            <a:ext cx="2473199" cy="199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0"/>
          <p:cNvSpPr txBox="1"/>
          <p:nvPr/>
        </p:nvSpPr>
        <p:spPr>
          <a:xfrm>
            <a:off x="723400" y="1061250"/>
            <a:ext cx="767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COVID-19 Tweet datasets with different scales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2" name="Google Shape;292;p40"/>
          <p:cNvPicPr preferRelativeResize="0"/>
          <p:nvPr/>
        </p:nvPicPr>
        <p:blipFill rotWithShape="1">
          <a:blip r:embed="rId8">
            <a:alphaModFix/>
          </a:blip>
          <a:srcRect b="0" l="0" r="0" t="1719"/>
          <a:stretch/>
        </p:blipFill>
        <p:spPr>
          <a:xfrm>
            <a:off x="1078437" y="2694475"/>
            <a:ext cx="1184278" cy="165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98" name="Google Shape;298;p41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There are multiple COVID-19 Tweet datasets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However, they are often </a:t>
            </a:r>
            <a:r>
              <a:rPr lang="en" sz="1800"/>
              <a:t>large— hard to load into Colab and Jupyter Notebook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Annotations may be incorrect— ne</a:t>
            </a:r>
            <a:r>
              <a:rPr lang="en" sz="1800"/>
              <a:t>ed to find a viable way to hand-label whether the Tweet is misinformation or not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304" name="Google Shape;304;p42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https://www.sciencedirect.com/science/article/pii/S0033350621004534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https://arxiv.org/abs/2006.00885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https://www.kaggle.com/datasets/gpreda/covid19-tweets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https://huggingface.co/datasets/arbml/COVID_19_Disinformation_ar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https://huggingface.co/datasets/justinqbui/covid_fact_checked_polifact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https://huggingface.co/datasets/nanyy1025/covid_fake_news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https://huggingface.co/spencer-gable-cook/COVID-19_Misinformation_Detector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https://huggingface.co/ChrisEsworthy/Covid_Misinformation_Model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Business Slides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